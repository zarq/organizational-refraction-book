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cold — 'Most strategies don't fail because they were wrong. They fail because the organization bent them on the way to the front line, and no one could see it happen.' Hold the title slide while that lands.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the spine of the whole conversation. The point isn't that a third of companies fail; it's that the average well-run company quietly loses a third of every strategy it sets — and has for two decades, through every fix anyone has tried.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earns trust with sophisticated audiences. We're not saying execution discipline is worthless — much of it is genuinely smart. We're saying it's aimed at the intensity of execution, while the mechanism that transforms intent operates without examination.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book. The shift is from 'who dropped the ball?' to 'what did the medium do to the signal?' Once you see it, you stop hunting for villains and start looking at boundaries.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metaphor earns its place by being specific: it makes predictions. High-density layers bend more. Directives that cut against local incentives bend more. And the bend has a location — almost never where the symptom is loudest.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single-lever fixes disappoint. Fix only the culture of a dense layer and three of its four contributors are untouched. The densest medium an org can build: homogeneous culture + misaligned incentives. That's a Wells Fargo branch under the cross-selling regime.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distinction crisp: hierarchy bends at the boundary, culture metabolizes the signal, process substitutes a proxy. They're separable on paper — in real organizations they co-occur and compound,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executives feel in their stomach — they've lived it. Leaders read it as foot-dragging and push harder. Pressure doesn't change the physics. A signal past the critical angle reflects no matter how forcefully it's sent.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Columbia engineer who wanted the wing imaged drafted the email and never sent it — he correctly read that his signal wouldn't penetrate the culture above him. That's compound refraction: the cultural layer absorbed the concern before it reached the hierarchy.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through-line: in every one of these, the people inside were competent and acting reasonably within their incentives. The structure produced the outcome. That's what makes refraction a mechanism, not a morality tale — and what makes it fixable.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Differentiation slide — crucial for publishers and skeptical executives. We're not throwing out the canon; we're supplying the missing layer underneath it. Refraction is complementary and foundational, not competitive.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the book operational rather than merely insightful. The instrument tells a leadership team which boundary to fix first — ranked by the steepness of the bend, not by org-chart seniority or where the noise is loudest.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lever to the layer. Incentive correction is the most tractable. Removal is for layers that have crystallized their own independent logic — their own P&amp;L, their own metrics.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executive audience, frame the payoff as recovered value: even a partial recovery of the 37% is the highest-leverage return available, because it requires no new strategy — only that the strategy you already have arrives intact.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the workshop as the bridge between the idea and the organization. The book gives the diagnosis; the workshop applies it to their org, this quarter, with their live strategy 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the book closes. These organizations thought they had an execution problem; they had a refraction problem — and the distinction is neither academic nor small. Then make the single clearest ask for the specific audience in front of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822960"/>
            <a:ext cx="6949440" cy="1920240"/>
          </a:xfrm>
          <a:prstGeom prst="rect">
            <a:avLst/>
          </a:prstGeom>
          <a:noFill/>
        </p:spPr>
        <p:txBody>
          <a:bodyPr wrap="square">
            <a:spAutoFit/>
          </a:bodyPr>
          <a:lstStyle/>
          <a:p>
            <a:pPr algn="l"/>
            <a:r>
              <a:rPr sz="6200" b="1">
                <a:solidFill>
                  <a:srgbClr val="F0AC32"/>
                </a:solidFill>
                <a:latin typeface="Arial"/>
              </a:rPr>
              <a:t>Organizational
Refraction</a:t>
            </a:r>
          </a:p>
        </p:txBody>
      </p:sp>
      <p:sp>
        <p:nvSpPr>
          <p:cNvPr id="4" name="TextBox 3"/>
          <p:cNvSpPr txBox="1"/>
          <p:nvPr/>
        </p:nvSpPr>
        <p:spPr>
          <a:xfrm>
            <a:off x="384048" y="3017520"/>
            <a:ext cx="6583680" cy="685800"/>
          </a:xfrm>
          <a:prstGeom prst="rect">
            <a:avLst/>
          </a:prstGeom>
          <a:noFill/>
        </p:spPr>
        <p:txBody>
          <a:bodyPr wrap="square">
            <a:spAutoFit/>
          </a:bodyPr>
          <a:lstStyle/>
          <a:p>
            <a:pPr algn="l"/>
            <a:r>
              <a:rPr sz="1900" b="0" i="1">
                <a:solidFill>
                  <a:srgbClr val="FFFFFF"/>
                </a:solidFill>
                <a:latin typeface="Georgia"/>
              </a:rPr>
              <a:t>Why Your Strategy Arrives Somewhere It Was Never Aimed</a:t>
            </a:r>
          </a:p>
        </p:txBody>
      </p:sp>
      <p:sp>
        <p:nvSpPr>
          <p:cNvPr id="5" name="Rectangle 4"/>
          <p:cNvSpPr/>
          <p:nvPr/>
        </p:nvSpPr>
        <p:spPr>
          <a:xfrm>
            <a:off x="384048" y="3840480"/>
            <a:ext cx="6217920" cy="41148"/>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4005072"/>
            <a:ext cx="6217920" cy="512064"/>
          </a:xfrm>
          <a:prstGeom prst="rect">
            <a:avLst/>
          </a:prstGeom>
          <a:noFill/>
        </p:spPr>
        <p:txBody>
          <a:bodyPr wrap="square">
            <a:spAutoFit/>
          </a:bodyPr>
          <a:lstStyle/>
          <a:p>
            <a:pPr algn="l"/>
            <a:r>
              <a:rPr sz="1400" b="0" i="0">
                <a:solidFill>
                  <a:srgbClr val="78889A"/>
                </a:solidFill>
                <a:latin typeface="Georgia"/>
              </a:rPr>
              <a:t>A new explanation for the oldest problem in management.</a:t>
            </a:r>
          </a:p>
        </p:txBody>
      </p:sp>
      <p:sp>
        <p:nvSpPr>
          <p:cNvPr id="7" name="TextBox 6"/>
          <p:cNvSpPr txBox="1"/>
          <p:nvPr/>
        </p:nvSpPr>
        <p:spPr>
          <a:xfrm>
            <a:off x="384048" y="6035040"/>
            <a:ext cx="5029200" cy="411480"/>
          </a:xfrm>
          <a:prstGeom prst="rect">
            <a:avLst/>
          </a:prstGeom>
          <a:noFill/>
        </p:spPr>
        <p:txBody>
          <a:bodyPr wrap="square">
            <a:spAutoFit/>
          </a:bodyPr>
          <a:lstStyle/>
          <a:p>
            <a:pPr algn="l"/>
            <a:r>
              <a:rPr sz="1200" b="0" i="0">
                <a:solidFill>
                  <a:srgbClr val="78889A"/>
                </a:solidFill>
                <a:latin typeface="Arial"/>
              </a:rPr>
              <a:t>[Author Name]  ·  [Publisher]</a:t>
            </a:r>
          </a:p>
        </p:txBody>
      </p:sp>
      <p:cxnSp>
        <p:nvCxnSpPr>
          <p:cNvPr id="8" name="Connector 7"/>
          <p:cNvCxnSpPr/>
          <p:nvPr/>
        </p:nvCxnSpPr>
        <p:spPr>
          <a:xfrm>
            <a:off x="6217920" y="1965960"/>
            <a:ext cx="2468880" cy="1207008.0"/>
          </a:xfrm>
          <a:prstGeom prst="line">
            <a:avLst/>
          </a:prstGeom>
          <a:ln w="4445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Hexagon 8"/>
          <p:cNvSpPr/>
          <p:nvPr/>
        </p:nvSpPr>
        <p:spPr>
          <a:xfrm>
            <a:off x="8686800" y="2468880"/>
            <a:ext cx="1554480" cy="2011680"/>
          </a:xfrm>
          <a:prstGeom prst="hexagon">
            <a:avLst/>
          </a:prstGeom>
          <a:solidFill>
            <a:srgbClr val="142845"/>
          </a:solidFill>
          <a:ln w="31750">
            <a:solidFill>
              <a:srgbClr val="F0AC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0" y="3218688"/>
            <a:ext cx="1554480" cy="512064"/>
          </a:xfrm>
          <a:prstGeom prst="rect">
            <a:avLst/>
          </a:prstGeom>
          <a:noFill/>
        </p:spPr>
        <p:txBody>
          <a:bodyPr wrap="square">
            <a:spAutoFit/>
          </a:bodyPr>
          <a:lstStyle/>
          <a:p>
            <a:pPr algn="ctr"/>
            <a:r>
              <a:rPr sz="1300" b="1" i="0">
                <a:solidFill>
                  <a:srgbClr val="F0AC32"/>
                </a:solidFill>
                <a:latin typeface="Arial"/>
              </a:rPr>
              <a:t>ORG</a:t>
            </a:r>
          </a:p>
        </p:txBody>
      </p:sp>
      <p:cxnSp>
        <p:nvCxnSpPr>
          <p:cNvPr id="11" name="Connector 10"/>
          <p:cNvCxnSpPr/>
          <p:nvPr/>
        </p:nvCxnSpPr>
        <p:spPr>
          <a:xfrm>
            <a:off x="10241280" y="3575304.0"/>
            <a:ext cx="1554480" cy="1728216.0"/>
          </a:xfrm>
          <a:prstGeom prst="line">
            <a:avLst/>
          </a:prstGeom>
          <a:ln w="44450">
            <a:solidFill>
              <a:srgbClr val="F0AC3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217920" y="1965960"/>
            <a:ext cx="5577840" cy="1463040"/>
          </a:xfrm>
          <a:prstGeom prst="line">
            <a:avLst/>
          </a:prstGeom>
          <a:ln w="19050">
            <a:solidFill>
              <a:srgbClr val="78889A"/>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1612880" y="3337560"/>
            <a:ext cx="164592" cy="164592"/>
          </a:xfrm>
          <a:prstGeom prst="ellipse">
            <a:avLst/>
          </a:prstGeom>
          <a:solidFill>
            <a:srgbClr val="7888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0" y="3063240"/>
            <a:ext cx="1371600" cy="347472"/>
          </a:xfrm>
          <a:prstGeom prst="rect">
            <a:avLst/>
          </a:prstGeom>
          <a:noFill/>
        </p:spPr>
        <p:txBody>
          <a:bodyPr wrap="square">
            <a:spAutoFit/>
          </a:bodyPr>
          <a:lstStyle/>
          <a:p>
            <a:pPr algn="ctr"/>
            <a:r>
              <a:rPr sz="1100" b="0" i="1">
                <a:solidFill>
                  <a:srgbClr val="78889A"/>
                </a:solidFill>
                <a:latin typeface="Arial"/>
              </a:rPr>
              <a:t>Intended</a:t>
            </a:r>
          </a:p>
        </p:txBody>
      </p:sp>
      <p:sp>
        <p:nvSpPr>
          <p:cNvPr id="15" name="TextBox 14"/>
          <p:cNvSpPr txBox="1"/>
          <p:nvPr/>
        </p:nvSpPr>
        <p:spPr>
          <a:xfrm>
            <a:off x="8366760" y="3035808"/>
            <a:ext cx="274320" cy="274320"/>
          </a:xfrm>
          <a:prstGeom prst="rect">
            <a:avLst/>
          </a:prstGeom>
          <a:noFill/>
        </p:spPr>
        <p:txBody>
          <a:bodyPr wrap="square">
            <a:spAutoFit/>
          </a:bodyPr>
          <a:lstStyle/>
          <a:p>
            <a:pPr algn="l"/>
            <a:r>
              <a:rPr sz="1400" b="1" i="0">
                <a:solidFill>
                  <a:srgbClr val="FFFFFF"/>
                </a:solidFill>
                <a:latin typeface="Arial"/>
              </a:rPr>
              <a:t>→</a:t>
            </a:r>
          </a:p>
        </p:txBody>
      </p:sp>
      <p:sp>
        <p:nvSpPr>
          <p:cNvPr id="16" name="TextBox 15"/>
          <p:cNvSpPr txBox="1"/>
          <p:nvPr/>
        </p:nvSpPr>
        <p:spPr>
          <a:xfrm>
            <a:off x="5943600" y="5989320"/>
            <a:ext cx="1280160" cy="347472"/>
          </a:xfrm>
          <a:prstGeom prst="rect">
            <a:avLst/>
          </a:prstGeom>
          <a:noFill/>
        </p:spPr>
        <p:txBody>
          <a:bodyPr wrap="square">
            <a:spAutoFit/>
          </a:bodyPr>
          <a:lstStyle/>
          <a:p>
            <a:pPr algn="l"/>
            <a:r>
              <a:rPr sz="1000" b="0" i="1">
                <a:solidFill>
                  <a:srgbClr val="78889A"/>
                </a:solidFill>
                <a:latin typeface="Arial"/>
              </a:rPr>
              <a:t>Strategic intent</a:t>
            </a:r>
          </a:p>
        </p:txBody>
      </p:sp>
      <p:sp>
        <p:nvSpPr>
          <p:cNvPr id="17" name="TextBox 16"/>
          <p:cNvSpPr txBox="1"/>
          <p:nvPr/>
        </p:nvSpPr>
        <p:spPr>
          <a:xfrm>
            <a:off x="8412480" y="5989320"/>
            <a:ext cx="1828800" cy="347472"/>
          </a:xfrm>
          <a:prstGeom prst="rect">
            <a:avLst/>
          </a:prstGeom>
          <a:noFill/>
        </p:spPr>
        <p:txBody>
          <a:bodyPr wrap="square">
            <a:spAutoFit/>
          </a:bodyPr>
          <a:lstStyle/>
          <a:p>
            <a:pPr algn="l"/>
            <a:r>
              <a:rPr sz="1000" b="0" i="1">
                <a:solidFill>
                  <a:srgbClr val="F0AC32"/>
                </a:solidFill>
                <a:latin typeface="Arial"/>
              </a:rPr>
              <a:t>Actual arrival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A Third of Every Strategy Disappears Before It Arrives</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2</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Across 197 companies, organizations realize just 63% of the financial performance their strategies promise — Mankins &amp; Steele, 2005</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37% of intended value evaporates between the decision and the delivery</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These weren't bad strategies — they were funded, announced, resourced, and believed in</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For twenty years that number sat in the literature like an unexplained physical constant — cited by everyone, closed by no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We've Been Aiming at the Wrong Object</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3</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The standard response to the gap: communicate more, measure more, push harder</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More all-hands and cascades. More dashboards, scorecards, OKRs. More change consultants. Comp tied to strategic outcomes.</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None of it has closed the gap — because all of it improves the message while ignoring what the organization does to the message in transit</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You cannot fix a structural distortion by sending the same signal louder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Strategy Doesn't Travel Through Your Organization. It Refracts Through It.</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4</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Fill a glass with water and a straw appears to snap at the surface — the water bent the light, not the straw</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Strategy behaves the same way: as intent crosses each boundary inside an organization, it bends</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The bend is not random, not bad people, and not a failure of effort — it is a structural property of the medium</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The straw isn't broken. Neither, usually, is the strategy.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Borrowed From Optics, Because the Explanation Is the Same Shape</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5</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7" name="TextBox 6"/>
          <p:cNvSpPr txBox="1"/>
          <p:nvPr/>
        </p:nvSpPr>
        <p:spPr>
          <a:xfrm>
            <a:off x="859536" y="1298448"/>
            <a:ext cx="5760720" cy="658368"/>
          </a:xfrm>
          <a:prstGeom prst="rect">
            <a:avLst/>
          </a:prstGeom>
          <a:noFill/>
        </p:spPr>
        <p:txBody>
          <a:bodyPr wrap="square">
            <a:spAutoFit/>
          </a:bodyPr>
          <a:lstStyle/>
          <a:p>
            <a:pPr algn="l"/>
            <a:r>
              <a:rPr sz="1650" b="0" i="0">
                <a:solidFill>
                  <a:srgbClr val="FFFFFF"/>
                </a:solidFill>
                <a:latin typeface="Georgia"/>
              </a:rPr>
              <a:t>In physics, a beam bends at boundaries by an amount fixed by Snell's Law — not by the beam's intentions, but by the media it crosses</a:t>
            </a:r>
          </a:p>
        </p:txBody>
      </p:sp>
      <p:sp>
        <p:nvSpPr>
          <p:cNvPr id="8" name="TextBox 7"/>
          <p:cNvSpPr txBox="1"/>
          <p:nvPr/>
        </p:nvSpPr>
        <p:spPr>
          <a:xfrm>
            <a:off x="566928" y="2103120"/>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9" name="TextBox 8"/>
          <p:cNvSpPr txBox="1"/>
          <p:nvPr/>
        </p:nvSpPr>
        <p:spPr>
          <a:xfrm>
            <a:off x="859536" y="2103120"/>
            <a:ext cx="5760720" cy="658368"/>
          </a:xfrm>
          <a:prstGeom prst="rect">
            <a:avLst/>
          </a:prstGeom>
          <a:noFill/>
        </p:spPr>
        <p:txBody>
          <a:bodyPr wrap="square">
            <a:spAutoFit/>
          </a:bodyPr>
          <a:lstStyle/>
          <a:p>
            <a:pPr algn="l"/>
            <a:r>
              <a:rPr sz="1650" b="0" i="0">
                <a:solidFill>
                  <a:srgbClr val="FFFFFF"/>
                </a:solidFill>
                <a:latin typeface="Georgia"/>
              </a:rPr>
              <a:t>Three variables: Refractive index (how strongly a layer transforms what passes through), Angle of incidence (how hard the directive runs against the grain), The boundary (where the bend actually happens — not inside the teams everyone blames)</a:t>
            </a:r>
          </a:p>
        </p:txBody>
      </p:sp>
      <p:sp>
        <p:nvSpPr>
          <p:cNvPr id="10" name="TextBox 9"/>
          <p:cNvSpPr txBox="1"/>
          <p:nvPr/>
        </p:nvSpPr>
        <p:spPr>
          <a:xfrm>
            <a:off x="566928" y="2907792"/>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11" name="TextBox 10"/>
          <p:cNvSpPr txBox="1"/>
          <p:nvPr/>
        </p:nvSpPr>
        <p:spPr>
          <a:xfrm>
            <a:off x="859536" y="2907792"/>
            <a:ext cx="5760720" cy="658368"/>
          </a:xfrm>
          <a:prstGeom prst="rect">
            <a:avLst/>
          </a:prstGeom>
          <a:noFill/>
        </p:spPr>
        <p:txBody>
          <a:bodyPr wrap="square">
            <a:spAutoFit/>
          </a:bodyPr>
          <a:lstStyle/>
          <a:p>
            <a:pPr algn="l"/>
            <a:r>
              <a:rPr sz="1650" b="0" i="0">
                <a:solidFill>
                  <a:srgbClr val="FFFFFF"/>
                </a:solidFill>
                <a:latin typeface="Georgia"/>
              </a:rPr>
              <a:t>Change any one variable and the outcome changes — predictably</a:t>
            </a:r>
          </a:p>
        </p:txBody>
      </p:sp>
      <p:sp>
        <p:nvSpPr>
          <p:cNvPr id="12" name="Rectangle 11"/>
          <p:cNvSpPr/>
          <p:nvPr/>
        </p:nvSpPr>
        <p:spPr>
          <a:xfrm>
            <a:off x="6583680" y="1325880"/>
            <a:ext cx="5120640" cy="1444752"/>
          </a:xfrm>
          <a:prstGeom prst="rect">
            <a:avLst/>
          </a:prstGeom>
          <a:solidFill>
            <a:srgbClr val="152B48"/>
          </a:solidFill>
          <a:ln w="9525">
            <a:solidFill>
              <a:srgbClr val="D4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837944"/>
            <a:ext cx="1645920" cy="384048"/>
          </a:xfrm>
          <a:prstGeom prst="rect">
            <a:avLst/>
          </a:prstGeom>
          <a:noFill/>
        </p:spPr>
        <p:txBody>
          <a:bodyPr wrap="square">
            <a:spAutoFit/>
          </a:bodyPr>
          <a:lstStyle/>
          <a:p>
            <a:pPr algn="l"/>
            <a:r>
              <a:rPr sz="1200" b="0" i="0">
                <a:solidFill>
                  <a:srgbClr val="78889A"/>
                </a:solidFill>
                <a:latin typeface="Arial"/>
              </a:rPr>
              <a:t>Executive Layer</a:t>
            </a:r>
          </a:p>
        </p:txBody>
      </p:sp>
      <p:sp>
        <p:nvSpPr>
          <p:cNvPr id="14" name="TextBox 13"/>
          <p:cNvSpPr txBox="1"/>
          <p:nvPr/>
        </p:nvSpPr>
        <p:spPr>
          <a:xfrm>
            <a:off x="9921240" y="1837944"/>
            <a:ext cx="1645920" cy="384048"/>
          </a:xfrm>
          <a:prstGeom prst="rect">
            <a:avLst/>
          </a:prstGeom>
          <a:noFill/>
        </p:spPr>
        <p:txBody>
          <a:bodyPr wrap="square">
            <a:spAutoFit/>
          </a:bodyPr>
          <a:lstStyle/>
          <a:p>
            <a:pPr algn="r"/>
            <a:r>
              <a:rPr sz="1100" b="0" i="1">
                <a:solidFill>
                  <a:srgbClr val="78889A"/>
                </a:solidFill>
                <a:latin typeface="Arial"/>
              </a:rPr>
              <a:t>RI₁ — Low</a:t>
            </a:r>
          </a:p>
        </p:txBody>
      </p:sp>
      <p:sp>
        <p:nvSpPr>
          <p:cNvPr id="15" name="Rectangle 14"/>
          <p:cNvSpPr/>
          <p:nvPr/>
        </p:nvSpPr>
        <p:spPr>
          <a:xfrm>
            <a:off x="6583680" y="2816352"/>
            <a:ext cx="5120640" cy="1444752"/>
          </a:xfrm>
          <a:prstGeom prst="rect">
            <a:avLst/>
          </a:prstGeom>
          <a:solidFill>
            <a:srgbClr val="1C375E"/>
          </a:solidFill>
          <a:ln w="9525">
            <a:solidFill>
              <a:srgbClr val="D4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328416"/>
            <a:ext cx="1645920" cy="384048"/>
          </a:xfrm>
          <a:prstGeom prst="rect">
            <a:avLst/>
          </a:prstGeom>
          <a:noFill/>
        </p:spPr>
        <p:txBody>
          <a:bodyPr wrap="square">
            <a:spAutoFit/>
          </a:bodyPr>
          <a:lstStyle/>
          <a:p>
            <a:pPr algn="l"/>
            <a:r>
              <a:rPr sz="1200" b="0" i="0">
                <a:solidFill>
                  <a:srgbClr val="78889A"/>
                </a:solidFill>
                <a:latin typeface="Arial"/>
              </a:rPr>
              <a:t>Division Layer</a:t>
            </a:r>
          </a:p>
        </p:txBody>
      </p:sp>
      <p:sp>
        <p:nvSpPr>
          <p:cNvPr id="17" name="TextBox 16"/>
          <p:cNvSpPr txBox="1"/>
          <p:nvPr/>
        </p:nvSpPr>
        <p:spPr>
          <a:xfrm>
            <a:off x="9921240" y="3328416"/>
            <a:ext cx="1645920" cy="384048"/>
          </a:xfrm>
          <a:prstGeom prst="rect">
            <a:avLst/>
          </a:prstGeom>
          <a:noFill/>
        </p:spPr>
        <p:txBody>
          <a:bodyPr wrap="square">
            <a:spAutoFit/>
          </a:bodyPr>
          <a:lstStyle/>
          <a:p>
            <a:pPr algn="r"/>
            <a:r>
              <a:rPr sz="1100" b="0" i="1">
                <a:solidFill>
                  <a:srgbClr val="78889A"/>
                </a:solidFill>
                <a:latin typeface="Arial"/>
              </a:rPr>
              <a:t>RI₂ — Medium</a:t>
            </a:r>
          </a:p>
        </p:txBody>
      </p:sp>
      <p:sp>
        <p:nvSpPr>
          <p:cNvPr id="18" name="Rectangle 17"/>
          <p:cNvSpPr/>
          <p:nvPr/>
        </p:nvSpPr>
        <p:spPr>
          <a:xfrm>
            <a:off x="6583680" y="4306824"/>
            <a:ext cx="5120640" cy="1444752"/>
          </a:xfrm>
          <a:prstGeom prst="rect">
            <a:avLst/>
          </a:prstGeom>
          <a:solidFill>
            <a:srgbClr val="224474"/>
          </a:solidFill>
          <a:ln w="9525">
            <a:solidFill>
              <a:srgbClr val="D4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4818888"/>
            <a:ext cx="1645920" cy="384048"/>
          </a:xfrm>
          <a:prstGeom prst="rect">
            <a:avLst/>
          </a:prstGeom>
          <a:noFill/>
        </p:spPr>
        <p:txBody>
          <a:bodyPr wrap="square">
            <a:spAutoFit/>
          </a:bodyPr>
          <a:lstStyle/>
          <a:p>
            <a:pPr algn="l"/>
            <a:r>
              <a:rPr sz="1200" b="0" i="0">
                <a:solidFill>
                  <a:srgbClr val="78889A"/>
                </a:solidFill>
                <a:latin typeface="Arial"/>
              </a:rPr>
              <a:t>Front Line</a:t>
            </a:r>
          </a:p>
        </p:txBody>
      </p:sp>
      <p:sp>
        <p:nvSpPr>
          <p:cNvPr id="20" name="TextBox 19"/>
          <p:cNvSpPr txBox="1"/>
          <p:nvPr/>
        </p:nvSpPr>
        <p:spPr>
          <a:xfrm>
            <a:off x="9921240" y="4818888"/>
            <a:ext cx="1645920" cy="384048"/>
          </a:xfrm>
          <a:prstGeom prst="rect">
            <a:avLst/>
          </a:prstGeom>
          <a:noFill/>
        </p:spPr>
        <p:txBody>
          <a:bodyPr wrap="square">
            <a:spAutoFit/>
          </a:bodyPr>
          <a:lstStyle/>
          <a:p>
            <a:pPr algn="r"/>
            <a:r>
              <a:rPr sz="1100" b="0" i="1">
                <a:solidFill>
                  <a:srgbClr val="78889A"/>
                </a:solidFill>
                <a:latin typeface="Arial"/>
              </a:rPr>
              <a:t>RI₃ — High</a:t>
            </a:r>
          </a:p>
        </p:txBody>
      </p:sp>
      <p:cxnSp>
        <p:nvCxnSpPr>
          <p:cNvPr id="21" name="Connector 20"/>
          <p:cNvCxnSpPr/>
          <p:nvPr/>
        </p:nvCxnSpPr>
        <p:spPr>
          <a:xfrm>
            <a:off x="9144000" y="1325880"/>
            <a:ext cx="0" cy="1444752"/>
          </a:xfrm>
          <a:prstGeom prst="line">
            <a:avLst/>
          </a:prstGeom>
          <a:ln w="3556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412480" y="2715768"/>
            <a:ext cx="1371600" cy="109728"/>
          </a:xfrm>
          <a:prstGeom prst="rect">
            <a:avLst/>
          </a:prstGeom>
          <a:solidFill>
            <a:srgbClr val="F0A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144000" y="2816352"/>
            <a:ext cx="502920" cy="1444752"/>
          </a:xfrm>
          <a:prstGeom prst="line">
            <a:avLst/>
          </a:prstGeom>
          <a:ln w="35560">
            <a:solidFill>
              <a:srgbClr val="F0AC32"/>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869680" y="4206240"/>
            <a:ext cx="1463040" cy="109728"/>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9646920" y="4306824"/>
            <a:ext cx="1051560" cy="1444752"/>
          </a:xfrm>
          <a:prstGeom prst="line">
            <a:avLst/>
          </a:prstGeom>
          <a:ln w="35560">
            <a:solidFill>
              <a:srgbClr val="D4860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44000" y="1325880"/>
            <a:ext cx="0" cy="4425696"/>
          </a:xfrm>
          <a:prstGeom prst="line">
            <a:avLst/>
          </a:prstGeom>
          <a:ln w="19050">
            <a:solidFill>
              <a:srgbClr val="78889A"/>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823960" y="978408"/>
            <a:ext cx="1371600" cy="347472"/>
          </a:xfrm>
          <a:prstGeom prst="rect">
            <a:avLst/>
          </a:prstGeom>
          <a:noFill/>
        </p:spPr>
        <p:txBody>
          <a:bodyPr wrap="square">
            <a:spAutoFit/>
          </a:bodyPr>
          <a:lstStyle/>
          <a:p>
            <a:pPr algn="ctr"/>
            <a:r>
              <a:rPr sz="1100" b="0" i="0">
                <a:solidFill>
                  <a:srgbClr val="FFFFFF"/>
                </a:solidFill>
                <a:latin typeface="Arial"/>
              </a:rPr>
              <a:t>Intent</a:t>
            </a:r>
          </a:p>
        </p:txBody>
      </p:sp>
      <p:sp>
        <p:nvSpPr>
          <p:cNvPr id="28" name="TextBox 27"/>
          <p:cNvSpPr txBox="1"/>
          <p:nvPr/>
        </p:nvSpPr>
        <p:spPr>
          <a:xfrm>
            <a:off x="10424160" y="5797296"/>
            <a:ext cx="1645920" cy="365760"/>
          </a:xfrm>
          <a:prstGeom prst="rect">
            <a:avLst/>
          </a:prstGeom>
          <a:noFill/>
        </p:spPr>
        <p:txBody>
          <a:bodyPr wrap="square">
            <a:spAutoFit/>
          </a:bodyPr>
          <a:lstStyle/>
          <a:p>
            <a:pPr algn="l"/>
            <a:r>
              <a:rPr sz="1100" b="0" i="0">
                <a:solidFill>
                  <a:srgbClr val="D4860B"/>
                </a:solidFill>
                <a:latin typeface="Arial"/>
              </a:rPr>
              <a:t>↓ Actual arrival</a:t>
            </a:r>
          </a:p>
        </p:txBody>
      </p:sp>
      <p:sp>
        <p:nvSpPr>
          <p:cNvPr id="29" name="TextBox 28"/>
          <p:cNvSpPr txBox="1"/>
          <p:nvPr/>
        </p:nvSpPr>
        <p:spPr>
          <a:xfrm>
            <a:off x="9253728" y="5797296"/>
            <a:ext cx="1645920" cy="365760"/>
          </a:xfrm>
          <a:prstGeom prst="rect">
            <a:avLst/>
          </a:prstGeom>
          <a:noFill/>
        </p:spPr>
        <p:txBody>
          <a:bodyPr wrap="square">
            <a:spAutoFit/>
          </a:bodyPr>
          <a:lstStyle/>
          <a:p>
            <a:pPr algn="l"/>
            <a:r>
              <a:rPr sz="1100" b="0" i="1">
                <a:solidFill>
                  <a:srgbClr val="78889A"/>
                </a:solidFill>
                <a:latin typeface="Arial"/>
              </a:rPr>
              <a:t>Intended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Four Things Make a Layer "Dense"</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6</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Process density — rigidity of procedures; a strategy needing nuance, run through a single-track process, comes out as one-size-fits-all</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Cultural homogeneity — cohesive cultures forcefully re-interpret intent to fit their own self-image</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Incentive (mis)alignment — the single best predictor of which way intent bends; where rewards point elsewhere, the layer redirects the strategy</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Coupling tightness — how faithfully a layer passes change to the next; loose coupling attenuates and delays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The Three Root Causes of Refraction</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7</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550" b="0" i="0">
                <a:solidFill>
                  <a:srgbClr val="FFFFFF"/>
                </a:solidFill>
                <a:latin typeface="Georgia"/>
              </a:rPr>
              <a:t>Hierarchical refraction — intent bends at authority boundaries in both directions at once; leaders steer by maps wrong in both directions  (Nokia: knew the iPhone threat, but managers "moved the data points to the right")</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550" b="0" i="0">
                <a:solidFill>
                  <a:srgbClr val="FFFFFF"/>
                </a:solidFill>
                <a:latin typeface="Georgia"/>
              </a:rPr>
              <a:t>Cultural refraction — a culture absorbs a directive and re-emits a version consistent with its own self-image  (Wells Fargo: "deepen relationships" → ~3.5M unauthorized accounts)</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550" b="0" i="0">
                <a:solidFill>
                  <a:srgbClr val="FFFFFF"/>
                </a:solidFill>
                <a:latin typeface="Georgia"/>
              </a:rPr>
              <a:t>Process refraction — metrics quietly substitute a measurable proxy for the strategy, and the org optimizes the proxy  (GE forced ranking: "optimize talent" → zero-sum internal contest, decade of green instruments)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Total Internal Reflection</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8</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7" name="TextBox 6"/>
          <p:cNvSpPr txBox="1"/>
          <p:nvPr/>
        </p:nvSpPr>
        <p:spPr>
          <a:xfrm>
            <a:off x="859536" y="1298448"/>
            <a:ext cx="5577840" cy="658368"/>
          </a:xfrm>
          <a:prstGeom prst="rect">
            <a:avLst/>
          </a:prstGeom>
          <a:noFill/>
        </p:spPr>
        <p:txBody>
          <a:bodyPr wrap="square">
            <a:spAutoFit/>
          </a:bodyPr>
          <a:lstStyle/>
          <a:p>
            <a:pPr algn="l"/>
            <a:r>
              <a:rPr sz="1600" b="0" i="0">
                <a:solidFill>
                  <a:srgbClr val="FFFFFF"/>
                </a:solidFill>
                <a:latin typeface="Georgia"/>
              </a:rPr>
              <a:t>Past a critical angle, a beam doesn't bend across a boundary — it reflects entirely back into the medium it came from</a:t>
            </a:r>
          </a:p>
        </p:txBody>
      </p:sp>
      <p:sp>
        <p:nvSpPr>
          <p:cNvPr id="8" name="TextBox 7"/>
          <p:cNvSpPr txBox="1"/>
          <p:nvPr/>
        </p:nvSpPr>
        <p:spPr>
          <a:xfrm>
            <a:off x="566928" y="2139696"/>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9" name="TextBox 8"/>
          <p:cNvSpPr txBox="1"/>
          <p:nvPr/>
        </p:nvSpPr>
        <p:spPr>
          <a:xfrm>
            <a:off x="859536" y="2139696"/>
            <a:ext cx="5577840" cy="658368"/>
          </a:xfrm>
          <a:prstGeom prst="rect">
            <a:avLst/>
          </a:prstGeom>
          <a:noFill/>
        </p:spPr>
        <p:txBody>
          <a:bodyPr wrap="square">
            <a:spAutoFit/>
          </a:bodyPr>
          <a:lstStyle/>
          <a:p>
            <a:pPr algn="l"/>
            <a:r>
              <a:rPr sz="1600" b="0" i="0">
                <a:solidFill>
                  <a:srgbClr val="FFFFFF"/>
                </a:solidFill>
                <a:latin typeface="Georgia"/>
              </a:rPr>
              <a:t>Organizations do the same: a directive hitting a layer too dense, at too sharp an angle, reflects back as acknowledged receipt</a:t>
            </a:r>
          </a:p>
        </p:txBody>
      </p:sp>
      <p:sp>
        <p:nvSpPr>
          <p:cNvPr id="10" name="TextBox 9"/>
          <p:cNvSpPr txBox="1"/>
          <p:nvPr/>
        </p:nvSpPr>
        <p:spPr>
          <a:xfrm>
            <a:off x="566928" y="3108960"/>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11" name="TextBox 10"/>
          <p:cNvSpPr txBox="1"/>
          <p:nvPr/>
        </p:nvSpPr>
        <p:spPr>
          <a:xfrm>
            <a:off x="859536" y="3108960"/>
            <a:ext cx="5577840" cy="658368"/>
          </a:xfrm>
          <a:prstGeom prst="rect">
            <a:avLst/>
          </a:prstGeom>
          <a:noFill/>
        </p:spPr>
        <p:txBody>
          <a:bodyPr wrap="square">
            <a:spAutoFit/>
          </a:bodyPr>
          <a:lstStyle/>
          <a:p>
            <a:pPr algn="l"/>
            <a:r>
              <a:rPr sz="1600" b="0" i="0">
                <a:solidFill>
                  <a:srgbClr val="FFFFFF"/>
                </a:solidFill>
                <a:latin typeface="Georgia"/>
              </a:rPr>
              <a:t>The strategy everyone endorses in the meeting — and no one implements in practice</a:t>
            </a:r>
          </a:p>
        </p:txBody>
      </p:sp>
      <p:sp>
        <p:nvSpPr>
          <p:cNvPr id="12" name="TextBox 11"/>
          <p:cNvSpPr txBox="1"/>
          <p:nvPr/>
        </p:nvSpPr>
        <p:spPr>
          <a:xfrm>
            <a:off x="566928" y="395020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13" name="TextBox 12"/>
          <p:cNvSpPr txBox="1"/>
          <p:nvPr/>
        </p:nvSpPr>
        <p:spPr>
          <a:xfrm>
            <a:off x="859536" y="3950208"/>
            <a:ext cx="5577840" cy="658368"/>
          </a:xfrm>
          <a:prstGeom prst="rect">
            <a:avLst/>
          </a:prstGeom>
          <a:noFill/>
        </p:spPr>
        <p:txBody>
          <a:bodyPr wrap="square">
            <a:spAutoFit/>
          </a:bodyPr>
          <a:lstStyle/>
          <a:p>
            <a:pPr algn="l"/>
            <a:r>
              <a:rPr sz="1600" b="0" i="0">
                <a:solidFill>
                  <a:srgbClr val="FFFFFF"/>
                </a:solidFill>
                <a:latin typeface="Georgia"/>
              </a:rPr>
              <a:t>Case: Kodak issued digital directives for 30 years while film remained the center of gravity → bankruptcy 2012</a:t>
            </a:r>
          </a:p>
        </p:txBody>
      </p:sp>
      <p:sp>
        <p:nvSpPr>
          <p:cNvPr id="14" name="Rectangle 13"/>
          <p:cNvSpPr/>
          <p:nvPr/>
        </p:nvSpPr>
        <p:spPr>
          <a:xfrm>
            <a:off x="7772400" y="2011680"/>
            <a:ext cx="82296" cy="4206240"/>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2103120"/>
            <a:ext cx="2560320" cy="384048"/>
          </a:xfrm>
          <a:prstGeom prst="rect">
            <a:avLst/>
          </a:prstGeom>
          <a:noFill/>
        </p:spPr>
        <p:txBody>
          <a:bodyPr wrap="square">
            <a:spAutoFit/>
          </a:bodyPr>
          <a:lstStyle/>
          <a:p>
            <a:pPr algn="l"/>
            <a:r>
              <a:rPr sz="1100" b="0" i="1">
                <a:solidFill>
                  <a:srgbClr val="F0AC32"/>
                </a:solidFill>
                <a:latin typeface="Arial"/>
              </a:rPr>
              <a:t>Dense layer / critical-angle boundary</a:t>
            </a:r>
          </a:p>
        </p:txBody>
      </p:sp>
      <p:cxnSp>
        <p:nvCxnSpPr>
          <p:cNvPr id="16" name="Connector 15"/>
          <p:cNvCxnSpPr/>
          <p:nvPr/>
        </p:nvCxnSpPr>
        <p:spPr>
          <a:xfrm>
            <a:off x="5486400" y="2560320"/>
            <a:ext cx="2286000" cy="1554480"/>
          </a:xfrm>
          <a:prstGeom prst="line">
            <a:avLst/>
          </a:prstGeom>
          <a:ln w="406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486400" y="4114800"/>
            <a:ext cx="2286000" cy="1554480"/>
          </a:xfrm>
          <a:prstGeom prst="line">
            <a:avLst/>
          </a:prstGeom>
          <a:ln w="40640">
            <a:solidFill>
              <a:srgbClr val="F0AC3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937760" y="2286000"/>
            <a:ext cx="2011680" cy="411480"/>
          </a:xfrm>
          <a:prstGeom prst="rect">
            <a:avLst/>
          </a:prstGeom>
          <a:noFill/>
        </p:spPr>
        <p:txBody>
          <a:bodyPr wrap="square">
            <a:spAutoFit/>
          </a:bodyPr>
          <a:lstStyle/>
          <a:p>
            <a:pPr algn="l"/>
            <a:r>
              <a:rPr sz="1300" b="0" i="0">
                <a:solidFill>
                  <a:srgbClr val="FFFFFF"/>
                </a:solidFill>
                <a:latin typeface="Georgia"/>
              </a:rPr>
              <a:t>← Intent sent</a:t>
            </a:r>
          </a:p>
        </p:txBody>
      </p:sp>
      <p:sp>
        <p:nvSpPr>
          <p:cNvPr id="19" name="TextBox 18"/>
          <p:cNvSpPr txBox="1"/>
          <p:nvPr/>
        </p:nvSpPr>
        <p:spPr>
          <a:xfrm>
            <a:off x="4572000" y="5577840"/>
            <a:ext cx="2926080" cy="411480"/>
          </a:xfrm>
          <a:prstGeom prst="rect">
            <a:avLst/>
          </a:prstGeom>
          <a:noFill/>
        </p:spPr>
        <p:txBody>
          <a:bodyPr wrap="square">
            <a:spAutoFit/>
          </a:bodyPr>
          <a:lstStyle/>
          <a:p>
            <a:pPr algn="l"/>
            <a:r>
              <a:rPr sz="1300" b="0" i="1">
                <a:solidFill>
                  <a:srgbClr val="F0AC32"/>
                </a:solidFill>
                <a:latin typeface="Georgia"/>
              </a:rPr>
              <a:t>"Compliance echoes" ←</a:t>
            </a:r>
          </a:p>
        </p:txBody>
      </p:sp>
      <p:sp>
        <p:nvSpPr>
          <p:cNvPr id="20" name="TextBox 19"/>
          <p:cNvSpPr txBox="1"/>
          <p:nvPr/>
        </p:nvSpPr>
        <p:spPr>
          <a:xfrm>
            <a:off x="6858000" y="3749039"/>
            <a:ext cx="1005840" cy="384048"/>
          </a:xfrm>
          <a:prstGeom prst="rect">
            <a:avLst/>
          </a:prstGeom>
          <a:noFill/>
        </p:spPr>
        <p:txBody>
          <a:bodyPr wrap="square">
            <a:spAutoFit/>
          </a:bodyPr>
          <a:lstStyle/>
          <a:p>
            <a:pPr algn="l"/>
            <a:r>
              <a:rPr sz="1000" b="0" i="0">
                <a:solidFill>
                  <a:srgbClr val="78889A"/>
                </a:solidFill>
                <a:latin typeface="Arial"/>
              </a:rPr>
              <a:t>Critical
angle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Refraction Stacks — and Reproduces Itself</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9</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When layers interact, distortion is multiplicative — each layer's density is shaped by the others, and the bends stack</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A medium that has run long enough becomes invisible: no one inside remembers what an undistorted signal looked like</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NASA produced the same failure twice: Challenger (1986) and Columbia (2003) — seventeen years apart, different people, the same uncorrected medium</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Correct the outcome but leave the medium, and the same bend returns on schedule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Nobody Made a Bad Decision</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10</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650" b="0" i="0">
                <a:solidFill>
                  <a:srgbClr val="FFFFFF"/>
                </a:solidFill>
                <a:latin typeface="Georgia"/>
              </a:rPr>
              <a:t>Nokia — had the technology and intelligence; the upward channel filtered out the truth  [Hierarchical]</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650" b="0" i="0">
                <a:solidFill>
                  <a:srgbClr val="FFFFFF"/>
                </a:solidFill>
                <a:latin typeface="Georgia"/>
              </a:rPr>
              <a:t>NASA — "take off your engineering hat and put on your management hat"; a do-not-launch arrived as launch approved — twice  [Hierarchical / Compound]</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650" b="0" i="0">
                <a:solidFill>
                  <a:srgbClr val="FFFFFF"/>
                </a:solidFill>
                <a:latin typeface="Georgia"/>
              </a:rPr>
              <a:t>Wells Fargo — "deepen relationships" → ~3.5M unauthorized accounts over 14 years  [Cultural]</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55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650" b="0" i="0">
                <a:solidFill>
                  <a:srgbClr val="FFFFFF"/>
                </a:solidFill>
                <a:latin typeface="Georgia"/>
              </a:rPr>
              <a:t>GE / Boeing / Kodak / AOL–TW ($99B writedown) / DaimlerChrysler (~$28B) / WaMu ($307B failure) — same structural logic, different industries  [Process / Reflection]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Every Framework Stops at the Boundary. This One Starts There.</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11</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Change management (Kotter, Lewin), Balanced Scorecard, McKinsey 7S, sensemaking, systems thinking — each is powerful, and each presupposes a physics of transmission it never supplies</a:t>
            </a:r>
          </a:p>
        </p:txBody>
      </p:sp>
      <p:sp>
        <p:nvSpPr>
          <p:cNvPr id="8" name="TextBox 7"/>
          <p:cNvSpPr txBox="1"/>
          <p:nvPr/>
        </p:nvSpPr>
        <p:spPr>
          <a:xfrm>
            <a:off x="566928" y="202996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29968"/>
            <a:ext cx="10835640" cy="658368"/>
          </a:xfrm>
          <a:prstGeom prst="rect">
            <a:avLst/>
          </a:prstGeom>
          <a:noFill/>
        </p:spPr>
        <p:txBody>
          <a:bodyPr wrap="square">
            <a:spAutoFit/>
          </a:bodyPr>
          <a:lstStyle/>
          <a:p>
            <a:pPr algn="l"/>
            <a:r>
              <a:rPr sz="1700" b="0" i="0">
                <a:solidFill>
                  <a:srgbClr val="FFFFFF"/>
                </a:solidFill>
                <a:latin typeface="Georgia"/>
              </a:rPr>
              <a:t>They tell you to communicate the vision, align the elements, translate the strategy — then assume it arrives with reasonable fidelity. That assumption is the gap.</a:t>
            </a:r>
          </a:p>
        </p:txBody>
      </p:sp>
      <p:sp>
        <p:nvSpPr>
          <p:cNvPr id="10" name="TextBox 9"/>
          <p:cNvSpPr txBox="1"/>
          <p:nvPr/>
        </p:nvSpPr>
        <p:spPr>
          <a:xfrm>
            <a:off x="566928" y="276148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761488"/>
            <a:ext cx="10835640" cy="658368"/>
          </a:xfrm>
          <a:prstGeom prst="rect">
            <a:avLst/>
          </a:prstGeom>
          <a:noFill/>
        </p:spPr>
        <p:txBody>
          <a:bodyPr wrap="square">
            <a:spAutoFit/>
          </a:bodyPr>
          <a:lstStyle/>
          <a:p>
            <a:pPr algn="l"/>
            <a:r>
              <a:rPr sz="1700" b="0" i="0">
                <a:solidFill>
                  <a:srgbClr val="FFFFFF"/>
                </a:solidFill>
                <a:latin typeface="Georgia"/>
              </a:rPr>
              <a:t>What no existing framework provides: organizational density, compound distortion across layers, directional prediction, interventions at the medium instead of the message</a:t>
            </a:r>
          </a:p>
        </p:txBody>
      </p:sp>
      <p:sp>
        <p:nvSpPr>
          <p:cNvPr id="12" name="Rectangle 11"/>
          <p:cNvSpPr/>
          <p:nvPr/>
        </p:nvSpPr>
        <p:spPr>
          <a:xfrm>
            <a:off x="384048" y="4617720"/>
            <a:ext cx="11430000" cy="1280160"/>
          </a:xfrm>
          <a:prstGeom prst="rect">
            <a:avLst/>
          </a:prstGeom>
          <a:solidFill>
            <a:srgbClr val="1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773168"/>
            <a:ext cx="10881360" cy="960120"/>
          </a:xfrm>
          <a:prstGeom prst="rect">
            <a:avLst/>
          </a:prstGeom>
          <a:noFill/>
        </p:spPr>
        <p:txBody>
          <a:bodyPr wrap="square">
            <a:spAutoFit/>
          </a:bodyPr>
          <a:lstStyle/>
          <a:p>
            <a:pPr algn="ctr"/>
            <a:r>
              <a:rPr sz="1700" b="0" i="1">
                <a:solidFill>
                  <a:srgbClr val="F0AC32"/>
                </a:solidFill>
                <a:latin typeface="Georgia"/>
              </a:rPr>
              <a:t>"Each framework built a wall right up to the boundary.
Refraction is the floor they are all standing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You Cannot Correct Refraction You Haven't Mapped</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12</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7" name="TextBox 6"/>
          <p:cNvSpPr txBox="1"/>
          <p:nvPr/>
        </p:nvSpPr>
        <p:spPr>
          <a:xfrm>
            <a:off x="859536" y="1298448"/>
            <a:ext cx="5760720" cy="658368"/>
          </a:xfrm>
          <a:prstGeom prst="rect">
            <a:avLst/>
          </a:prstGeom>
          <a:noFill/>
        </p:spPr>
        <p:txBody>
          <a:bodyPr wrap="square">
            <a:spAutoFit/>
          </a:bodyPr>
          <a:lstStyle/>
          <a:p>
            <a:pPr algn="l"/>
            <a:r>
              <a:rPr sz="1600" b="0" i="0">
                <a:solidFill>
                  <a:srgbClr val="FFFFFF"/>
                </a:solidFill>
                <a:latin typeface="Georgia"/>
              </a:rPr>
              <a:t>The Refractive-Index Instrument maps where strategy bent — not just that it did</a:t>
            </a:r>
          </a:p>
        </p:txBody>
      </p:sp>
      <p:sp>
        <p:nvSpPr>
          <p:cNvPr id="8" name="TextBox 7"/>
          <p:cNvSpPr txBox="1"/>
          <p:nvPr/>
        </p:nvSpPr>
        <p:spPr>
          <a:xfrm>
            <a:off x="566928" y="207568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9" name="TextBox 8"/>
          <p:cNvSpPr txBox="1"/>
          <p:nvPr/>
        </p:nvSpPr>
        <p:spPr>
          <a:xfrm>
            <a:off x="859536" y="2075688"/>
            <a:ext cx="5760720" cy="658368"/>
          </a:xfrm>
          <a:prstGeom prst="rect">
            <a:avLst/>
          </a:prstGeom>
          <a:noFill/>
        </p:spPr>
        <p:txBody>
          <a:bodyPr wrap="square">
            <a:spAutoFit/>
          </a:bodyPr>
          <a:lstStyle/>
          <a:p>
            <a:pPr algn="l"/>
            <a:r>
              <a:rPr sz="1600" b="0" i="0">
                <a:solidFill>
                  <a:srgbClr val="FFFFFF"/>
                </a:solidFill>
                <a:latin typeface="Georgia"/>
              </a:rPr>
              <a:t>Part A (under 2 hours): 21 items, scored 1–5, across three sub-scales — Hierarchical, Cultural, Process — run per layer boundary</a:t>
            </a:r>
          </a:p>
        </p:txBody>
      </p:sp>
      <p:sp>
        <p:nvSpPr>
          <p:cNvPr id="10" name="TextBox 9"/>
          <p:cNvSpPr txBox="1"/>
          <p:nvPr/>
        </p:nvSpPr>
        <p:spPr>
          <a:xfrm>
            <a:off x="566928" y="285292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11" name="TextBox 10"/>
          <p:cNvSpPr txBox="1"/>
          <p:nvPr/>
        </p:nvSpPr>
        <p:spPr>
          <a:xfrm>
            <a:off x="859536" y="2852928"/>
            <a:ext cx="5760720" cy="658368"/>
          </a:xfrm>
          <a:prstGeom prst="rect">
            <a:avLst/>
          </a:prstGeom>
          <a:noFill/>
        </p:spPr>
        <p:txBody>
          <a:bodyPr wrap="square">
            <a:spAutoFit/>
          </a:bodyPr>
          <a:lstStyle/>
          <a:p>
            <a:pPr algn="l"/>
            <a:r>
              <a:rPr sz="1600" b="0" i="0">
                <a:solidFill>
                  <a:srgbClr val="FFFFFF"/>
                </a:solidFill>
                <a:latin typeface="Georgia"/>
              </a:rPr>
              <a:t>Output: a refractive profile per layer, not a single score — banded from low to total-internal-reflection risk</a:t>
            </a:r>
          </a:p>
        </p:txBody>
      </p:sp>
      <p:sp>
        <p:nvSpPr>
          <p:cNvPr id="12" name="TextBox 11"/>
          <p:cNvSpPr txBox="1"/>
          <p:nvPr/>
        </p:nvSpPr>
        <p:spPr>
          <a:xfrm>
            <a:off x="566928" y="3630168"/>
            <a:ext cx="256032" cy="512064"/>
          </a:xfrm>
          <a:prstGeom prst="rect">
            <a:avLst/>
          </a:prstGeom>
          <a:noFill/>
        </p:spPr>
        <p:txBody>
          <a:bodyPr wrap="square">
            <a:spAutoFit/>
          </a:bodyPr>
          <a:lstStyle/>
          <a:p>
            <a:pPr algn="l"/>
            <a:r>
              <a:rPr sz="1500" b="1" i="0">
                <a:solidFill>
                  <a:srgbClr val="D4860B"/>
                </a:solidFill>
                <a:latin typeface="Arial"/>
              </a:rPr>
              <a:t>▸</a:t>
            </a:r>
          </a:p>
        </p:txBody>
      </p:sp>
      <p:sp>
        <p:nvSpPr>
          <p:cNvPr id="13" name="TextBox 12"/>
          <p:cNvSpPr txBox="1"/>
          <p:nvPr/>
        </p:nvSpPr>
        <p:spPr>
          <a:xfrm>
            <a:off x="859536" y="3630168"/>
            <a:ext cx="5760720" cy="658368"/>
          </a:xfrm>
          <a:prstGeom prst="rect">
            <a:avLst/>
          </a:prstGeom>
          <a:noFill/>
        </p:spPr>
        <p:txBody>
          <a:bodyPr wrap="square">
            <a:spAutoFit/>
          </a:bodyPr>
          <a:lstStyle/>
          <a:p>
            <a:pPr algn="l"/>
            <a:r>
              <a:rPr sz="1600" b="0" i="0">
                <a:solidFill>
                  <a:srgbClr val="FFFFFF"/>
                </a:solidFill>
                <a:latin typeface="Georgia"/>
              </a:rPr>
              <a:t>Priority output: dominant mode at each layer + steepest boundary gradient = first intervention site</a:t>
            </a:r>
          </a:p>
        </p:txBody>
      </p:sp>
      <p:sp>
        <p:nvSpPr>
          <p:cNvPr id="14" name="TextBox 13"/>
          <p:cNvSpPr txBox="1"/>
          <p:nvPr/>
        </p:nvSpPr>
        <p:spPr>
          <a:xfrm>
            <a:off x="7680960" y="1280160"/>
            <a:ext cx="3931920" cy="411480"/>
          </a:xfrm>
          <a:prstGeom prst="rect">
            <a:avLst/>
          </a:prstGeom>
          <a:noFill/>
        </p:spPr>
        <p:txBody>
          <a:bodyPr wrap="square">
            <a:spAutoFit/>
          </a:bodyPr>
          <a:lstStyle/>
          <a:p>
            <a:pPr algn="ctr"/>
            <a:r>
              <a:rPr sz="1200" b="1" i="0">
                <a:solidFill>
                  <a:srgbClr val="F0AC32"/>
                </a:solidFill>
                <a:latin typeface="Arial"/>
              </a:rPr>
              <a:t>REFRACTIVE PROFILE</a:t>
            </a:r>
          </a:p>
        </p:txBody>
      </p:sp>
      <p:sp>
        <p:nvSpPr>
          <p:cNvPr id="15" name="Rectangle 14"/>
          <p:cNvSpPr/>
          <p:nvPr/>
        </p:nvSpPr>
        <p:spPr>
          <a:xfrm>
            <a:off x="7680960" y="1737360"/>
            <a:ext cx="3931920" cy="548640"/>
          </a:xfrm>
          <a:prstGeom prst="rect">
            <a:avLst/>
          </a:prstGeom>
          <a:solidFill>
            <a:srgbClr val="1C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1737360"/>
            <a:ext cx="1100937" cy="548640"/>
          </a:xfrm>
          <a:prstGeom prst="rect">
            <a:avLst/>
          </a:prstGeom>
          <a:solidFill>
            <a:srgbClr val="7888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828800"/>
            <a:ext cx="1554480" cy="384048"/>
          </a:xfrm>
          <a:prstGeom prst="rect">
            <a:avLst/>
          </a:prstGeom>
          <a:noFill/>
        </p:spPr>
        <p:txBody>
          <a:bodyPr wrap="square">
            <a:spAutoFit/>
          </a:bodyPr>
          <a:lstStyle/>
          <a:p>
            <a:pPr algn="r"/>
            <a:r>
              <a:rPr sz="1300" b="0" i="0">
                <a:solidFill>
                  <a:srgbClr val="FFFFFF"/>
                </a:solidFill>
                <a:latin typeface="Arial"/>
              </a:rPr>
              <a:t>Executive</a:t>
            </a:r>
          </a:p>
        </p:txBody>
      </p:sp>
      <p:sp>
        <p:nvSpPr>
          <p:cNvPr id="18" name="TextBox 17"/>
          <p:cNvSpPr txBox="1"/>
          <p:nvPr/>
        </p:nvSpPr>
        <p:spPr>
          <a:xfrm>
            <a:off x="8873337" y="1828800"/>
            <a:ext cx="640080" cy="384048"/>
          </a:xfrm>
          <a:prstGeom prst="rect">
            <a:avLst/>
          </a:prstGeom>
          <a:noFill/>
        </p:spPr>
        <p:txBody>
          <a:bodyPr wrap="square">
            <a:spAutoFit/>
          </a:bodyPr>
          <a:lstStyle/>
          <a:p>
            <a:pPr algn="l"/>
            <a:r>
              <a:rPr sz="1300" b="1" i="0">
                <a:solidFill>
                  <a:srgbClr val="78889A"/>
                </a:solidFill>
                <a:latin typeface="Arial"/>
              </a:rPr>
              <a:t>28%</a:t>
            </a:r>
          </a:p>
        </p:txBody>
      </p:sp>
      <p:sp>
        <p:nvSpPr>
          <p:cNvPr id="19" name="Rectangle 18"/>
          <p:cNvSpPr/>
          <p:nvPr/>
        </p:nvSpPr>
        <p:spPr>
          <a:xfrm>
            <a:off x="7680960" y="2670048"/>
            <a:ext cx="3931920" cy="548640"/>
          </a:xfrm>
          <a:prstGeom prst="rect">
            <a:avLst/>
          </a:prstGeom>
          <a:solidFill>
            <a:srgbClr val="1C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2670048"/>
            <a:ext cx="2437790" cy="548640"/>
          </a:xfrm>
          <a:prstGeom prst="rect">
            <a:avLst/>
          </a:prstGeom>
          <a:solidFill>
            <a:srgbClr val="F0A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761488"/>
            <a:ext cx="1554480" cy="384048"/>
          </a:xfrm>
          <a:prstGeom prst="rect">
            <a:avLst/>
          </a:prstGeom>
          <a:noFill/>
        </p:spPr>
        <p:txBody>
          <a:bodyPr wrap="square">
            <a:spAutoFit/>
          </a:bodyPr>
          <a:lstStyle/>
          <a:p>
            <a:pPr algn="r"/>
            <a:r>
              <a:rPr sz="1300" b="0" i="0">
                <a:solidFill>
                  <a:srgbClr val="FFFFFF"/>
                </a:solidFill>
                <a:latin typeface="Arial"/>
              </a:rPr>
              <a:t>Division</a:t>
            </a:r>
          </a:p>
        </p:txBody>
      </p:sp>
      <p:sp>
        <p:nvSpPr>
          <p:cNvPr id="22" name="TextBox 21"/>
          <p:cNvSpPr txBox="1"/>
          <p:nvPr/>
        </p:nvSpPr>
        <p:spPr>
          <a:xfrm>
            <a:off x="10210190" y="2761488"/>
            <a:ext cx="640080" cy="384048"/>
          </a:xfrm>
          <a:prstGeom prst="rect">
            <a:avLst/>
          </a:prstGeom>
          <a:noFill/>
        </p:spPr>
        <p:txBody>
          <a:bodyPr wrap="square">
            <a:spAutoFit/>
          </a:bodyPr>
          <a:lstStyle/>
          <a:p>
            <a:pPr algn="l"/>
            <a:r>
              <a:rPr sz="1300" b="1" i="0">
                <a:solidFill>
                  <a:srgbClr val="F0AC32"/>
                </a:solidFill>
                <a:latin typeface="Arial"/>
              </a:rPr>
              <a:t>62%</a:t>
            </a:r>
          </a:p>
        </p:txBody>
      </p:sp>
      <p:sp>
        <p:nvSpPr>
          <p:cNvPr id="23" name="Rectangle 22"/>
          <p:cNvSpPr/>
          <p:nvPr/>
        </p:nvSpPr>
        <p:spPr>
          <a:xfrm>
            <a:off x="7680960" y="3602736"/>
            <a:ext cx="3931920" cy="548640"/>
          </a:xfrm>
          <a:prstGeom prst="rect">
            <a:avLst/>
          </a:prstGeom>
          <a:solidFill>
            <a:srgbClr val="1C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80960" y="3602736"/>
            <a:ext cx="3578047" cy="548640"/>
          </a:xfrm>
          <a:prstGeom prst="rect">
            <a:avLst/>
          </a:prstGeom>
          <a:solidFill>
            <a:srgbClr val="C03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3694176"/>
            <a:ext cx="1554480" cy="384048"/>
          </a:xfrm>
          <a:prstGeom prst="rect">
            <a:avLst/>
          </a:prstGeom>
          <a:noFill/>
        </p:spPr>
        <p:txBody>
          <a:bodyPr wrap="square">
            <a:spAutoFit/>
          </a:bodyPr>
          <a:lstStyle/>
          <a:p>
            <a:pPr algn="r"/>
            <a:r>
              <a:rPr sz="1300" b="0" i="0">
                <a:solidFill>
                  <a:srgbClr val="FFFFFF"/>
                </a:solidFill>
                <a:latin typeface="Arial"/>
              </a:rPr>
              <a:t>Front Line</a:t>
            </a:r>
          </a:p>
        </p:txBody>
      </p:sp>
      <p:sp>
        <p:nvSpPr>
          <p:cNvPr id="26" name="TextBox 25"/>
          <p:cNvSpPr txBox="1"/>
          <p:nvPr/>
        </p:nvSpPr>
        <p:spPr>
          <a:xfrm>
            <a:off x="11350447" y="3694176"/>
            <a:ext cx="640080" cy="384048"/>
          </a:xfrm>
          <a:prstGeom prst="rect">
            <a:avLst/>
          </a:prstGeom>
          <a:noFill/>
        </p:spPr>
        <p:txBody>
          <a:bodyPr wrap="square">
            <a:spAutoFit/>
          </a:bodyPr>
          <a:lstStyle/>
          <a:p>
            <a:pPr algn="l"/>
            <a:r>
              <a:rPr sz="1300" b="1" i="0">
                <a:solidFill>
                  <a:srgbClr val="C03A10"/>
                </a:solidFill>
                <a:latin typeface="Arial"/>
              </a:rPr>
              <a:t>91%</a:t>
            </a:r>
          </a:p>
        </p:txBody>
      </p:sp>
      <p:sp>
        <p:nvSpPr>
          <p:cNvPr id="27" name="TextBox 26"/>
          <p:cNvSpPr txBox="1"/>
          <p:nvPr/>
        </p:nvSpPr>
        <p:spPr>
          <a:xfrm>
            <a:off x="7680960" y="4169664"/>
            <a:ext cx="3931920" cy="384048"/>
          </a:xfrm>
          <a:prstGeom prst="rect">
            <a:avLst/>
          </a:prstGeom>
          <a:noFill/>
        </p:spPr>
        <p:txBody>
          <a:bodyPr wrap="square">
            <a:spAutoFit/>
          </a:bodyPr>
          <a:lstStyle/>
          <a:p>
            <a:pPr algn="ctr"/>
            <a:r>
              <a:rPr sz="1100" b="1" i="0">
                <a:solidFill>
                  <a:srgbClr val="C03A10"/>
                </a:solidFill>
                <a:latin typeface="Arial"/>
              </a:rPr>
              <a:t>↑ Priority intervention site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You Don't Fix Refraction by Repeating Yourself</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13</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550" b="0" i="0">
                <a:solidFill>
                  <a:srgbClr val="FFFFFF"/>
                </a:solidFill>
                <a:latin typeface="Georgia"/>
              </a:rPr>
              <a:t>Lower the index — change what the layer rewards  (Microsoft scrapped stack ranking 2013; collaboration stopped being penalized → Azure grew to ~26% cloud market share by 2023)</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550" b="0" i="0">
                <a:solidFill>
                  <a:srgbClr val="FFFFFF"/>
                </a:solidFill>
                <a:latin typeface="Georgia"/>
              </a:rPr>
              <a:t>Change the angle — introduce intent with the grain via translator roles  (Toyota's chief-engineer shusa: programs completed in ~50% fewer engineering hours)</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550" b="0" i="0">
                <a:solidFill>
                  <a:srgbClr val="FFFFFF"/>
                </a:solidFill>
                <a:latin typeface="Georgia"/>
              </a:rPr>
              <a:t>Remove and replace — when hardened past correction, take the layer out  (Haier: ~12,000 middle-management roles cut, 80K people into ~4,000 micro-enterprises → revenue 80B → 209B RMB)</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45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550" b="0" i="0">
                <a:solidFill>
                  <a:srgbClr val="FFFFFF"/>
                </a:solidFill>
                <a:latin typeface="Georgia"/>
              </a:rPr>
              <a:t>Retransmitting the original signal louder is never the fix — it only produces louder compliance echoes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From 'Why Won't This Land?' to 'Here's Exactly Where It Bends'</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14</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A diagnosis with a location — the specific boundaries where your strategy is being lost, ranked by severity</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A shared language for a problem leaders have always sensed but couldn't name — refraction, index, angle, the boundary</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The end of wasted force — stop pushing harder on signals that are reflecting, stop blaming people for a structural condition</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Designs that hold — principles for building refraction-resistant organizations that survive leadership transitions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Run the Audit on Your Own Organization</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15</a:t>
            </a:r>
          </a:p>
        </p:txBody>
      </p:sp>
      <p:sp>
        <p:nvSpPr>
          <p:cNvPr id="6" name="TextBox 5"/>
          <p:cNvSpPr txBox="1"/>
          <p:nvPr/>
        </p:nvSpPr>
        <p:spPr>
          <a:xfrm>
            <a:off x="566928" y="1298448"/>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7" name="TextBox 6"/>
          <p:cNvSpPr txBox="1"/>
          <p:nvPr/>
        </p:nvSpPr>
        <p:spPr>
          <a:xfrm>
            <a:off x="859536" y="1298448"/>
            <a:ext cx="10835640" cy="658368"/>
          </a:xfrm>
          <a:prstGeom prst="rect">
            <a:avLst/>
          </a:prstGeom>
          <a:noFill/>
        </p:spPr>
        <p:txBody>
          <a:bodyPr wrap="square">
            <a:spAutoFit/>
          </a:bodyPr>
          <a:lstStyle/>
          <a:p>
            <a:pPr algn="l"/>
            <a:r>
              <a:rPr sz="1700" b="0" i="0">
                <a:solidFill>
                  <a:srgbClr val="FFFFFF"/>
                </a:solidFill>
                <a:latin typeface="Georgia"/>
              </a:rPr>
              <a:t>A facilitated Refraction Audit built on the book's diagnostic instrument — for an executive team and one live strategic priority</a:t>
            </a:r>
          </a:p>
        </p:txBody>
      </p:sp>
      <p:sp>
        <p:nvSpPr>
          <p:cNvPr id="8" name="TextBox 7"/>
          <p:cNvSpPr txBox="1"/>
          <p:nvPr/>
        </p:nvSpPr>
        <p:spPr>
          <a:xfrm>
            <a:off x="566928" y="2066544"/>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9" name="TextBox 8"/>
          <p:cNvSpPr txBox="1"/>
          <p:nvPr/>
        </p:nvSpPr>
        <p:spPr>
          <a:xfrm>
            <a:off x="859536" y="2066544"/>
            <a:ext cx="10835640" cy="658368"/>
          </a:xfrm>
          <a:prstGeom prst="rect">
            <a:avLst/>
          </a:prstGeom>
          <a:noFill/>
        </p:spPr>
        <p:txBody>
          <a:bodyPr wrap="square">
            <a:spAutoFit/>
          </a:bodyPr>
          <a:lstStyle/>
          <a:p>
            <a:pPr algn="l"/>
            <a:r>
              <a:rPr sz="1700" b="0" i="0">
                <a:solidFill>
                  <a:srgbClr val="FFFFFF"/>
                </a:solidFill>
                <a:latin typeface="Georgia"/>
              </a:rPr>
              <a:t>In the room: map your layers, score each boundary across hierarchy / culture / process, trace one real strategic signal end-to-end</a:t>
            </a:r>
          </a:p>
        </p:txBody>
      </p:sp>
      <p:sp>
        <p:nvSpPr>
          <p:cNvPr id="10" name="TextBox 9"/>
          <p:cNvSpPr txBox="1"/>
          <p:nvPr/>
        </p:nvSpPr>
        <p:spPr>
          <a:xfrm>
            <a:off x="566928" y="2834640"/>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1" name="TextBox 10"/>
          <p:cNvSpPr txBox="1"/>
          <p:nvPr/>
        </p:nvSpPr>
        <p:spPr>
          <a:xfrm>
            <a:off x="859536" y="2834640"/>
            <a:ext cx="10835640" cy="658368"/>
          </a:xfrm>
          <a:prstGeom prst="rect">
            <a:avLst/>
          </a:prstGeom>
          <a:noFill/>
        </p:spPr>
        <p:txBody>
          <a:bodyPr wrap="square">
            <a:spAutoFit/>
          </a:bodyPr>
          <a:lstStyle/>
          <a:p>
            <a:pPr algn="l"/>
            <a:r>
              <a:rPr sz="1700" b="0" i="0">
                <a:solidFill>
                  <a:srgbClr val="FFFFFF"/>
                </a:solidFill>
                <a:latin typeface="Georgia"/>
              </a:rPr>
              <a:t>Leave with: ranked list of highest-refraction boundaries + matched intervention for the top one</a:t>
            </a:r>
          </a:p>
        </p:txBody>
      </p:sp>
      <p:sp>
        <p:nvSpPr>
          <p:cNvPr id="12" name="TextBox 11"/>
          <p:cNvSpPr txBox="1"/>
          <p:nvPr/>
        </p:nvSpPr>
        <p:spPr>
          <a:xfrm>
            <a:off x="566928" y="3602736"/>
            <a:ext cx="256032" cy="512064"/>
          </a:xfrm>
          <a:prstGeom prst="rect">
            <a:avLst/>
          </a:prstGeom>
          <a:noFill/>
        </p:spPr>
        <p:txBody>
          <a:bodyPr wrap="square">
            <a:spAutoFit/>
          </a:bodyPr>
          <a:lstStyle/>
          <a:p>
            <a:pPr algn="l"/>
            <a:r>
              <a:rPr sz="1600" b="1" i="0">
                <a:solidFill>
                  <a:srgbClr val="D4860B"/>
                </a:solidFill>
                <a:latin typeface="Arial"/>
              </a:rPr>
              <a:t>▸</a:t>
            </a:r>
          </a:p>
        </p:txBody>
      </p:sp>
      <p:sp>
        <p:nvSpPr>
          <p:cNvPr id="13" name="TextBox 12"/>
          <p:cNvSpPr txBox="1"/>
          <p:nvPr/>
        </p:nvSpPr>
        <p:spPr>
          <a:xfrm>
            <a:off x="859536" y="3602736"/>
            <a:ext cx="10835640" cy="658368"/>
          </a:xfrm>
          <a:prstGeom prst="rect">
            <a:avLst/>
          </a:prstGeom>
          <a:noFill/>
        </p:spPr>
        <p:txBody>
          <a:bodyPr wrap="square">
            <a:spAutoFit/>
          </a:bodyPr>
          <a:lstStyle/>
          <a:p>
            <a:pPr algn="l"/>
            <a:r>
              <a:rPr sz="1700" b="0" i="0">
                <a:solidFill>
                  <a:srgbClr val="FFFFFF"/>
                </a:solidFill>
                <a:latin typeface="Georgia"/>
              </a:rPr>
              <a:t>Formats: half-day executive session (Part A) or deeper engagement with Part B expert verification and intervention design sprint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384048" y="292608"/>
            <a:ext cx="73152" cy="713232"/>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789920" cy="877824"/>
          </a:xfrm>
          <a:prstGeom prst="rect">
            <a:avLst/>
          </a:prstGeom>
          <a:noFill/>
        </p:spPr>
        <p:txBody>
          <a:bodyPr wrap="square">
            <a:spAutoFit/>
          </a:bodyPr>
          <a:lstStyle/>
          <a:p>
            <a:pPr algn="l"/>
            <a:r>
              <a:rPr sz="2800" b="1" i="0">
                <a:solidFill>
                  <a:srgbClr val="F0AC32"/>
                </a:solidFill>
                <a:latin typeface="Arial"/>
              </a:rPr>
              <a:t>Building the Medium Is the Work</a:t>
            </a:r>
          </a:p>
        </p:txBody>
      </p:sp>
      <p:sp>
        <p:nvSpPr>
          <p:cNvPr id="4" name="Rectangle 3"/>
          <p:cNvSpPr/>
          <p:nvPr/>
        </p:nvSpPr>
        <p:spPr>
          <a:xfrm>
            <a:off x="594360" y="1115568"/>
            <a:ext cx="11247120" cy="36576"/>
          </a:xfrm>
          <a:prstGeom prst="rect">
            <a:avLst/>
          </a:prstGeom>
          <a:solidFill>
            <a:srgbClr val="D4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0" y="109728"/>
            <a:ext cx="658368" cy="347472"/>
          </a:xfrm>
          <a:prstGeom prst="rect">
            <a:avLst/>
          </a:prstGeom>
          <a:noFill/>
        </p:spPr>
        <p:txBody>
          <a:bodyPr wrap="square">
            <a:spAutoFit/>
          </a:bodyPr>
          <a:lstStyle/>
          <a:p>
            <a:pPr algn="r"/>
            <a:r>
              <a:rPr sz="1300" b="0" i="0">
                <a:solidFill>
                  <a:srgbClr val="78889A"/>
                </a:solidFill>
                <a:latin typeface="Arial"/>
              </a:rPr>
              <a:t>16</a:t>
            </a:r>
          </a:p>
        </p:txBody>
      </p:sp>
      <p:sp>
        <p:nvSpPr>
          <p:cNvPr id="6" name="TextBox 5"/>
          <p:cNvSpPr txBox="1"/>
          <p:nvPr/>
        </p:nvSpPr>
        <p:spPr>
          <a:xfrm>
            <a:off x="566928" y="1371600"/>
            <a:ext cx="256032" cy="512064"/>
          </a:xfrm>
          <a:prstGeom prst="rect">
            <a:avLst/>
          </a:prstGeom>
          <a:noFill/>
        </p:spPr>
        <p:txBody>
          <a:bodyPr wrap="square">
            <a:spAutoFit/>
          </a:bodyPr>
          <a:lstStyle/>
          <a:p>
            <a:pPr algn="l"/>
            <a:r>
              <a:rPr sz="1700" b="1" i="0">
                <a:solidFill>
                  <a:srgbClr val="D4860B"/>
                </a:solidFill>
                <a:latin typeface="Arial"/>
              </a:rPr>
              <a:t>▸</a:t>
            </a:r>
          </a:p>
        </p:txBody>
      </p:sp>
      <p:sp>
        <p:nvSpPr>
          <p:cNvPr id="7" name="TextBox 6"/>
          <p:cNvSpPr txBox="1"/>
          <p:nvPr/>
        </p:nvSpPr>
        <p:spPr>
          <a:xfrm>
            <a:off x="859536" y="1371600"/>
            <a:ext cx="10835640" cy="658368"/>
          </a:xfrm>
          <a:prstGeom prst="rect">
            <a:avLst/>
          </a:prstGeom>
          <a:noFill/>
        </p:spPr>
        <p:txBody>
          <a:bodyPr wrap="square">
            <a:spAutoFit/>
          </a:bodyPr>
          <a:lstStyle/>
          <a:p>
            <a:pPr algn="l"/>
            <a:r>
              <a:rPr sz="1800" b="0" i="0">
                <a:solidFill>
                  <a:srgbClr val="FFFFFF"/>
                </a:solidFill>
                <a:latin typeface="Georgia"/>
              </a:rPr>
              <a:t>The most valuable thing a leader can build isn't a sharper strategy or a bolder vision — it's a medium that carries intent faithfully</a:t>
            </a:r>
          </a:p>
        </p:txBody>
      </p:sp>
      <p:sp>
        <p:nvSpPr>
          <p:cNvPr id="8" name="TextBox 7"/>
          <p:cNvSpPr txBox="1"/>
          <p:nvPr/>
        </p:nvSpPr>
        <p:spPr>
          <a:xfrm>
            <a:off x="566928" y="2267712"/>
            <a:ext cx="256032" cy="512064"/>
          </a:xfrm>
          <a:prstGeom prst="rect">
            <a:avLst/>
          </a:prstGeom>
          <a:noFill/>
        </p:spPr>
        <p:txBody>
          <a:bodyPr wrap="square">
            <a:spAutoFit/>
          </a:bodyPr>
          <a:lstStyle/>
          <a:p>
            <a:pPr algn="l"/>
            <a:r>
              <a:rPr sz="1700" b="1" i="0">
                <a:solidFill>
                  <a:srgbClr val="D4860B"/>
                </a:solidFill>
                <a:latin typeface="Arial"/>
              </a:rPr>
              <a:t>▸</a:t>
            </a:r>
          </a:p>
        </p:txBody>
      </p:sp>
      <p:sp>
        <p:nvSpPr>
          <p:cNvPr id="9" name="TextBox 8"/>
          <p:cNvSpPr txBox="1"/>
          <p:nvPr/>
        </p:nvSpPr>
        <p:spPr>
          <a:xfrm>
            <a:off x="859536" y="2267712"/>
            <a:ext cx="10835640" cy="658368"/>
          </a:xfrm>
          <a:prstGeom prst="rect">
            <a:avLst/>
          </a:prstGeom>
          <a:noFill/>
        </p:spPr>
        <p:txBody>
          <a:bodyPr wrap="square">
            <a:spAutoFit/>
          </a:bodyPr>
          <a:lstStyle/>
          <a:p>
            <a:pPr algn="l"/>
            <a:r>
              <a:rPr sz="1800" b="0" i="0">
                <a:solidFill>
                  <a:srgbClr val="FFFFFF"/>
                </a:solidFill>
                <a:latin typeface="Georgia"/>
              </a:rPr>
              <a:t>An organization whose layers have been mapped, whose densest boundaries have been found and lowered, whose signals are introduced at angles they can survive</a:t>
            </a:r>
          </a:p>
        </p:txBody>
      </p:sp>
      <p:sp>
        <p:nvSpPr>
          <p:cNvPr id="10" name="TextBox 9"/>
          <p:cNvSpPr txBox="1"/>
          <p:nvPr/>
        </p:nvSpPr>
        <p:spPr>
          <a:xfrm>
            <a:off x="566928" y="3163824"/>
            <a:ext cx="256032" cy="512064"/>
          </a:xfrm>
          <a:prstGeom prst="rect">
            <a:avLst/>
          </a:prstGeom>
          <a:noFill/>
        </p:spPr>
        <p:txBody>
          <a:bodyPr wrap="square">
            <a:spAutoFit/>
          </a:bodyPr>
          <a:lstStyle/>
          <a:p>
            <a:pPr algn="l"/>
            <a:r>
              <a:rPr sz="1700" b="1" i="0">
                <a:solidFill>
                  <a:srgbClr val="D4860B"/>
                </a:solidFill>
                <a:latin typeface="Arial"/>
              </a:rPr>
              <a:t>▸</a:t>
            </a:r>
          </a:p>
        </p:txBody>
      </p:sp>
      <p:sp>
        <p:nvSpPr>
          <p:cNvPr id="11" name="TextBox 10"/>
          <p:cNvSpPr txBox="1"/>
          <p:nvPr/>
        </p:nvSpPr>
        <p:spPr>
          <a:xfrm>
            <a:off x="859536" y="3163824"/>
            <a:ext cx="10835640" cy="658368"/>
          </a:xfrm>
          <a:prstGeom prst="rect">
            <a:avLst/>
          </a:prstGeom>
          <a:noFill/>
        </p:spPr>
        <p:txBody>
          <a:bodyPr wrap="square">
            <a:spAutoFit/>
          </a:bodyPr>
          <a:lstStyle/>
          <a:p>
            <a:pPr algn="l"/>
            <a:r>
              <a:rPr sz="1800" b="0" i="0">
                <a:solidFill>
                  <a:srgbClr val="FFFFFF"/>
                </a:solidFill>
                <a:latin typeface="Georgia"/>
              </a:rPr>
              <a:t>"Everything else the leader does is poured through it."</a:t>
            </a:r>
          </a:p>
        </p:txBody>
      </p:sp>
      <p:sp>
        <p:nvSpPr>
          <p:cNvPr id="12" name="Rectangle 11"/>
          <p:cNvSpPr/>
          <p:nvPr/>
        </p:nvSpPr>
        <p:spPr>
          <a:xfrm>
            <a:off x="384048" y="5074920"/>
            <a:ext cx="11430000" cy="1417320"/>
          </a:xfrm>
          <a:prstGeom prst="rect">
            <a:avLst/>
          </a:prstGeom>
          <a:solidFill>
            <a:srgbClr val="10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230368"/>
            <a:ext cx="10881360" cy="411480"/>
          </a:xfrm>
          <a:prstGeom prst="rect">
            <a:avLst/>
          </a:prstGeom>
          <a:noFill/>
        </p:spPr>
        <p:txBody>
          <a:bodyPr wrap="square">
            <a:spAutoFit/>
          </a:bodyPr>
          <a:lstStyle/>
          <a:p>
            <a:pPr algn="ctr"/>
            <a:r>
              <a:rPr sz="1300" b="0" i="0">
                <a:solidFill>
                  <a:srgbClr val="78889A"/>
                </a:solidFill>
                <a:latin typeface="Arial"/>
              </a:rPr>
              <a:t>[Author / Imprint]  ·  [email@domain.com]  ·  [website.com]  ·  [scheduling link]</a:t>
            </a:r>
          </a:p>
        </p:txBody>
      </p:sp>
      <p:sp>
        <p:nvSpPr>
          <p:cNvPr id="14" name="TextBox 13"/>
          <p:cNvSpPr txBox="1"/>
          <p:nvPr/>
        </p:nvSpPr>
        <p:spPr>
          <a:xfrm>
            <a:off x="685800" y="5669280"/>
            <a:ext cx="10881360" cy="530352"/>
          </a:xfrm>
          <a:prstGeom prst="rect">
            <a:avLst/>
          </a:prstGeom>
          <a:noFill/>
        </p:spPr>
        <p:txBody>
          <a:bodyPr wrap="square">
            <a:spAutoFit/>
          </a:bodyPr>
          <a:lstStyle/>
          <a:p>
            <a:pPr algn="ctr"/>
            <a:r>
              <a:rPr sz="1700" b="1" i="0">
                <a:solidFill>
                  <a:srgbClr val="FFFFFF"/>
                </a:solidFill>
                <a:latin typeface="Arial"/>
              </a:rPr>
              <a:t>Book: Organizational Refraction  ·  Workshop: The Refraction Audit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